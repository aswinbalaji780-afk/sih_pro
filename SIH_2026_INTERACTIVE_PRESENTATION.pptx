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64592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Arial"/>
              </a:defRPr>
            </a:pPr>
            <a:r>
              <a:t>Team MoSPI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92608"/>
            <a:ext cx="7589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NATIONAL SKILL INTELLIGENCE &amp; LEARNING PLATFORM</a:t>
            </a:r>
            <a:br/>
            <a:r>
              <a:t>Team Information &amp; Problem Statement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172A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600" b="1">
                <a:solidFill>
                  <a:srgbClr val="E11D48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94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362456"/>
            <a:ext cx="53218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PROBLEM STATEMENT &amp; SUBMISSION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Problem Statement ID:</a:t>
            </a:r>
            <a:r>
              <a:rPr sz="1050" b="0">
                <a:solidFill>
                  <a:srgbClr val="0F172A"/>
                </a:solidFill>
                <a:latin typeface="Arial"/>
              </a:rPr>
              <a:t> MoSPI-NSSTA-2026-01 (Ministry of Statistics &amp; Programme Implementation)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Problem Statement Title:</a:t>
            </a:r>
            <a:r>
              <a:rPr sz="1050" b="0">
                <a:solidFill>
                  <a:srgbClr val="0F172A"/>
                </a:solidFill>
                <a:latin typeface="Arial"/>
              </a:rPr>
              <a:t> National Skill Intelligence &amp; Learning Platform for Official Statistics Cadres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Theme / Domain:</a:t>
            </a:r>
            <a:r>
              <a:rPr sz="1050" b="0">
                <a:solidFill>
                  <a:srgbClr val="0F172A"/>
                </a:solidFill>
                <a:latin typeface="Arial"/>
              </a:rPr>
              <a:t> Smart Education, Civil Service Capacity Building &amp; Mission Karmayogi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PS Category:</a:t>
            </a:r>
            <a:r>
              <a:rPr sz="1050" b="0">
                <a:solidFill>
                  <a:srgbClr val="0F172A"/>
                </a:solidFill>
                <a:latin typeface="Arial"/>
              </a:rPr>
              <a:t> Software Edition (Web Application + Asynchronous REST API Gateway)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Target Organization:</a:t>
            </a:r>
            <a:r>
              <a:rPr sz="1050" b="0">
                <a:solidFill>
                  <a:srgbClr val="0F172A"/>
                </a:solidFill>
                <a:latin typeface="Arial"/>
              </a:rPr>
              <a:t> MoSPI, NSSTA, DoPT Karmayogi Bharat SPV, National Statistical Commission (NSC)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Target User Cadres:</a:t>
            </a:r>
            <a:r>
              <a:rPr sz="1050" b="0">
                <a:solidFill>
                  <a:srgbClr val="0F172A"/>
                </a:solidFill>
                <a:latin typeface="Arial"/>
              </a:rPr>
              <a:t> Junior Statistical Officers (JSO), Senior Statistical Officers (SSO), Directors (ISS/SSS/DES)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GitHub Repository:</a:t>
            </a:r>
            <a:r>
              <a:rPr sz="1050" b="0">
                <a:solidFill>
                  <a:srgbClr val="0F172A"/>
                </a:solidFill>
                <a:latin typeface="Arial"/>
              </a:rPr>
              <a:t> https://github.com/aswinbalaji780-afk/SIH_PRO.git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Working Prototype URL:</a:t>
            </a:r>
            <a:r>
              <a:rPr sz="1050" b="0">
                <a:solidFill>
                  <a:srgbClr val="0F172A"/>
                </a:solidFill>
                <a:latin typeface="Arial"/>
              </a:rPr>
              <a:t> http://127.0.0.1:8000 (FastAPI Swagger UI: /docs)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94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4496" y="1362456"/>
            <a:ext cx="53218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TEAM ROSTER &amp; EXPERTISE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5029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  <a:latin typeface="Arial"/>
              </a:rPr>
              <a:t>👤 Team Lead &amp; Full-Stack Architect: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    Expertise:  System Design, FastAPI Backend &amp; Cadre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33472"/>
            <a:ext cx="5029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  <a:latin typeface="Arial"/>
              </a:rPr>
              <a:t>👤 AI / RAG Specialist: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    Expertise:  Grounded Ingestion, Bloom's Taxonomy Engine &amp; Vector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46704"/>
            <a:ext cx="5029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  <a:latin typeface="Arial"/>
              </a:rPr>
              <a:t>👤 Frontend / UI/UX Engineer: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    Expertise:  Responsive Single-Page App, Role Dashboards &amp; PWA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59935"/>
            <a:ext cx="5029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  <a:latin typeface="Arial"/>
              </a:rPr>
              <a:t>👤 Domain &amp; Policy Analyst: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    Expertise:  MoSPI Cadre Hierarchy, FRAC Framework &amp; APAR 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73168"/>
            <a:ext cx="5029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  <a:latin typeface="Arial"/>
              </a:rPr>
              <a:t>👤 Database &amp; Cloud Engineer: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    Expertise:  SQLAlchemy ORM, SQLite/PostgreSQL &amp; NIC MeghRaj CI/CD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486400"/>
            <a:ext cx="5029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  <a:latin typeface="Arial"/>
              </a:rPr>
              <a:t>👤 QA &amp; Integration Engineer: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    Expertise:  iGOT Karmayogi API Bridge, SCORM Tracking &amp;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64592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Arial"/>
              </a:defRPr>
            </a:pPr>
            <a:r>
              <a:t>Team MoSPI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92608"/>
            <a:ext cx="7589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Karmayogi-Stat: AI-Enabled Closed-Loop Skill Intelligence &amp;</a:t>
            </a:r>
            <a:br/>
            <a:r>
              <a:t>Adaptive Upskilling Platform for MoSPI and NSSTA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172A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600" b="1">
                <a:solidFill>
                  <a:srgbClr val="E11D48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362456"/>
            <a:ext cx="53218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Uncalibrated Training Cycles: </a:t>
            </a:r>
            <a:r>
              <a:rPr sz="950">
                <a:solidFill>
                  <a:srgbClr val="475569"/>
                </a:solidFill>
                <a:latin typeface="Arial"/>
              </a:rPr>
              <a:t>Statistical training across 12,000+ personnel is episodic, unbenchmarked against promotion criteria, and suffers from 65% skill decay.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Curricular Disconnect: </a:t>
            </a:r>
            <a:r>
              <a:rPr sz="950">
                <a:solidFill>
                  <a:srgbClr val="475569"/>
                </a:solidFill>
                <a:latin typeface="Arial"/>
              </a:rPr>
              <a:t>Official manuals (ASI, NSS, CPI, National Accounts) remain static PDFs; civil servants lack personalized learning paths.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Catalogue Blindness on iGOT: </a:t>
            </a:r>
            <a:r>
              <a:rPr sz="950">
                <a:solidFill>
                  <a:srgbClr val="475569"/>
                </a:solidFill>
                <a:latin typeface="Arial"/>
              </a:rPr>
              <a:t>Officers cannot identify which of the 1,500+ iGOT courses address their specific cadre promotional gaps.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Generic LLM Hallucinations: </a:t>
            </a:r>
            <a:r>
              <a:rPr sz="950">
                <a:solidFill>
                  <a:srgbClr val="475569"/>
                </a:solidFill>
                <a:latin typeface="Arial"/>
              </a:rPr>
              <a:t>Public AI models invent statistical formulas, misquote sampling rules, and fail civil service accuracy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4496" y="1362456"/>
            <a:ext cx="53218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OUR IDEA &amp; 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Authoritative Domain AI: </a:t>
            </a:r>
            <a:r>
              <a:rPr sz="950">
                <a:solidFill>
                  <a:srgbClr val="475569"/>
                </a:solidFill>
                <a:latin typeface="Arial"/>
              </a:rPr>
              <a:t>Grounded RAG synthesizes multi-level psychometric tests from official NSSTA guides with zero hallucination.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Closed-Loop Competency Ledger: </a:t>
            </a:r>
            <a:r>
              <a:rPr sz="950">
                <a:solidFill>
                  <a:srgbClr val="475569"/>
                </a:solidFill>
                <a:latin typeface="Arial"/>
              </a:rPr>
              <a:t>Immutable 4-source ledger (APAR, Tests, Courses, Experience) benchmarking skills against gazetted roles.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Automated Cadre Gap Engine: </a:t>
            </a:r>
            <a:r>
              <a:rPr sz="950">
                <a:solidFill>
                  <a:srgbClr val="475569"/>
                </a:solidFill>
                <a:latin typeface="Arial"/>
              </a:rPr>
              <a:t>Computes mathematical deltas Gap = max(0, Target - Current) for JSO -&gt; SSO -&gt; Director promotions.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1-Click iGOT Karmayogi Sync: </a:t>
            </a:r>
            <a:r>
              <a:rPr sz="950">
                <a:solidFill>
                  <a:srgbClr val="475569"/>
                </a:solidFill>
                <a:latin typeface="Arial"/>
              </a:rPr>
              <a:t>Bidirectional API bridge linking official competencies to curated iGOT modules with SCORM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39319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5216" y="3968496"/>
            <a:ext cx="385876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PROPOSED SOLUTION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Arial"/>
              </a:rPr>
              <a:t>• 4-Persona RBAC Gateway: </a:t>
            </a:r>
            <a:r>
              <a:rPr sz="900">
                <a:solidFill>
                  <a:srgbClr val="475569"/>
                </a:solidFill>
                <a:latin typeface="Arial"/>
              </a:rPr>
              <a:t>Tailored workflows for Learner, Trainer, Cadre Manager, and System Admin.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Arial"/>
              </a:rPr>
              <a:t>• Grounded RAG Studio: </a:t>
            </a:r>
            <a:r>
              <a:rPr sz="900">
                <a:solidFill>
                  <a:srgbClr val="475569"/>
                </a:solidFill>
                <a:latin typeface="Arial"/>
              </a:rPr>
              <a:t>Extracts semantic chunks from official manuals; generates Bloom's L1-L3 questions.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Arial"/>
              </a:rPr>
              <a:t>• Adaptive Recommender: </a:t>
            </a:r>
            <a:r>
              <a:rPr sz="900">
                <a:solidFill>
                  <a:srgbClr val="475569"/>
                </a:solidFill>
                <a:latin typeface="Arial"/>
              </a:rPr>
              <a:t>Curates mandatory and elective modules based on critical gap scores.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Arial"/>
              </a:rPr>
              <a:t>• NIC Cloud Ready: </a:t>
            </a:r>
            <a:r>
              <a:rPr sz="900">
                <a:solidFill>
                  <a:srgbClr val="475569"/>
                </a:solidFill>
                <a:latin typeface="Arial"/>
              </a:rPr>
              <a:t>Zero external dependencies; sub-250KB payload runs on low-bandwidth field offices.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977639"/>
            <a:ext cx="32918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B82F6"/>
                </a:solidFill>
                <a:latin typeface="Arial"/>
              </a:rPr>
              <a:t>Step 1: Diagnostic Benchmarking</a:t>
            </a:r>
          </a:p>
          <a:p>
            <a:r>
              <a:rPr sz="850">
                <a:solidFill>
                  <a:srgbClr val="475569"/>
                </a:solidFill>
                <a:latin typeface="Arial"/>
              </a:rPr>
              <a:t>Computes baseline from APAR, history &amp; diagnostics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590288"/>
            <a:ext cx="32918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D97706"/>
                </a:solidFill>
                <a:latin typeface="Arial"/>
              </a:rPr>
              <a:t>Step 2: Cadre Gap Prioritization</a:t>
            </a:r>
          </a:p>
          <a:p>
            <a:r>
              <a:rPr sz="850">
                <a:solidFill>
                  <a:srgbClr val="475569"/>
                </a:solidFill>
                <a:latin typeface="Arial"/>
              </a:rPr>
              <a:t>Identifies Critical, High, &amp; Medium skill deltas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5202936"/>
            <a:ext cx="32918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0955B"/>
                </a:solidFill>
                <a:latin typeface="Arial"/>
              </a:rPr>
              <a:t>Step 3: Curated iGOT Learning</a:t>
            </a:r>
          </a:p>
          <a:p>
            <a:r>
              <a:rPr sz="850">
                <a:solidFill>
                  <a:srgbClr val="475569"/>
                </a:solidFill>
                <a:latin typeface="Arial"/>
              </a:rPr>
              <a:t>1-click API enrollment with in-app SCORM player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5815583"/>
            <a:ext cx="32918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7E22CE"/>
                </a:solidFill>
                <a:latin typeface="Arial"/>
              </a:rPr>
              <a:t>Step 4: Grounded Assessment</a:t>
            </a:r>
          </a:p>
          <a:p>
            <a:r>
              <a:rPr sz="850">
                <a:solidFill>
                  <a:srgbClr val="475569"/>
                </a:solidFill>
                <a:latin typeface="Arial"/>
              </a:rPr>
              <a:t>Bloom's taxonomy exam updates competency ledger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3192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74736" y="3968496"/>
            <a:ext cx="340156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INNOVATION &amp; UNIQUENESS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348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0955B"/>
                </a:solidFill>
                <a:latin typeface="Arial"/>
              </a:rPr>
              <a:t>• Official Statistical RAG: </a:t>
            </a:r>
            <a:r>
              <a:rPr sz="900">
                <a:solidFill>
                  <a:srgbClr val="475569"/>
                </a:solidFill>
                <a:latin typeface="Arial"/>
              </a:rPr>
              <a:t>First platform grounded in Hansen-Hurwitz sampling and SNA 2008 standards.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0955B"/>
                </a:solidFill>
                <a:latin typeface="Arial"/>
              </a:rPr>
              <a:t>• Strict Cadre Hierarchy: </a:t>
            </a:r>
            <a:r>
              <a:rPr sz="900">
                <a:solidFill>
                  <a:srgbClr val="475569"/>
                </a:solidFill>
                <a:latin typeface="Arial"/>
              </a:rPr>
              <a:t>Prevents promotion skipping; enforces gazetted minimum residency rules.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0955B"/>
                </a:solidFill>
                <a:latin typeface="Arial"/>
              </a:rPr>
              <a:t>• Zero-Hallucination Citations: </a:t>
            </a:r>
            <a:r>
              <a:rPr sz="900">
                <a:solidFill>
                  <a:srgbClr val="475569"/>
                </a:solidFill>
                <a:latin typeface="Arial"/>
              </a:rPr>
              <a:t>Every exam question includes exact manual chapter and page citations.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0955B"/>
                </a:solidFill>
                <a:latin typeface="Arial"/>
              </a:rPr>
              <a:t>• Sovereign Architecture: </a:t>
            </a:r>
            <a:r>
              <a:rPr sz="900">
                <a:solidFill>
                  <a:srgbClr val="475569"/>
                </a:solidFill>
                <a:latin typeface="Arial"/>
              </a:rPr>
              <a:t>Air-gapped deployment capable; 100% compliant with DPDPA 2023 privacy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64592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Arial"/>
              </a:defRPr>
            </a:pPr>
            <a:r>
              <a:t>Team MoSPI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92608"/>
            <a:ext cx="7589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TECHNICAL APPROACH &amp; SYSTEM ARCHITECTURE</a:t>
            </a:r>
            <a:br/>
            <a:r>
              <a:t>Asynchronous Micro-Architecture, Grounded RAG Pipeline &amp; Security Fallbacks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172A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600" b="1">
                <a:solidFill>
                  <a:srgbClr val="E11D48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40233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362456"/>
            <a:ext cx="39502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ARCHITECTURE &amp;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Frontend Layer:</a:t>
            </a:r>
            <a:r>
              <a:rPr sz="900">
                <a:solidFill>
                  <a:srgbClr val="0F172A"/>
                </a:solidFill>
                <a:latin typeface="Arial"/>
              </a:rPr>
              <a:t> Vanilla ES6+ JS, HTML5, CSS3, Tailwind utilities (&lt;250KB payload, sub-100ms FCP, runs on low-bandwidth NIC intranets).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Backend &amp; API Gateway:</a:t>
            </a:r>
            <a:r>
              <a:rPr sz="900">
                <a:solidFill>
                  <a:srgbClr val="0F172A"/>
                </a:solidFill>
                <a:latin typeface="Arial"/>
              </a:rPr>
              <a:t> FastAPI (Python 3.12 ASGI), Pydantic v2 strict schemas, asynchronous task runners, auto Swagger UI (/docs).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RAG &amp; Retrieval Engine:</a:t>
            </a:r>
            <a:r>
              <a:rPr sz="900">
                <a:solidFill>
                  <a:srgbClr val="0F172A"/>
                </a:solidFill>
                <a:latin typeface="Arial"/>
              </a:rPr>
              <a:t> Semantic chunking (500-1000 chars, 100 overlap) + Cosine similarity over NSSTA training guides.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Cognitive Exam Engine:</a:t>
            </a:r>
            <a:r>
              <a:rPr sz="900">
                <a:solidFill>
                  <a:srgbClr val="0F172A"/>
                </a:solidFill>
                <a:latin typeface="Arial"/>
              </a:rPr>
              <a:t> Bloom's Taxonomy prompt synthesis (Recall, Understanding, Application, Analysis) + Gemini 1.5 Flash / Local NLP.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Competency Ledger DB:</a:t>
            </a:r>
            <a:r>
              <a:rPr sz="900">
                <a:solidFill>
                  <a:srgbClr val="0F172A"/>
                </a:solidFill>
                <a:latin typeface="Arial"/>
              </a:rPr>
              <a:t> SQLite (Prototype/Edge) / PostgreSQL (Cloud) via SQLAlchemy 2.0 ORM with immutable audit logging.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Mission Karmayogi Bridge:</a:t>
            </a:r>
            <a:r>
              <a:rPr sz="900">
                <a:solidFill>
                  <a:srgbClr val="0F172A"/>
                </a:solidFill>
                <a:latin typeface="Arial"/>
              </a:rPr>
              <a:t> RESTful API v1.4 client supporting automatic course enrollment, progress sync &amp; SCORM telemetry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2240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B82F6"/>
                </a:solidFill>
                <a:latin typeface="Arial"/>
              </a:rPr>
              <a:t>1. Multi-Modal Ingestion</a:t>
            </a:r>
          </a:p>
          <a:p>
            <a:r>
              <a:rPr sz="800">
                <a:solidFill>
                  <a:srgbClr val="475569"/>
                </a:solidFill>
                <a:latin typeface="Arial"/>
              </a:rPr>
              <a:t>Uploads official PDF manuals &amp; guides
Extracts text, strips noise &amp;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240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0955B"/>
                </a:solidFill>
                <a:latin typeface="Arial"/>
              </a:rPr>
              <a:t>2. Semantic Chunking &amp; Index</a:t>
            </a:r>
          </a:p>
          <a:p>
            <a:r>
              <a:rPr sz="800">
                <a:solidFill>
                  <a:srgbClr val="475569"/>
                </a:solidFill>
                <a:latin typeface="Arial"/>
              </a:rPr>
              <a:t>Overlapping chunk windows (500-1000)
Builds semantic index for quick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371600"/>
            <a:ext cx="21031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D97706"/>
                </a:solidFill>
                <a:latin typeface="Arial"/>
              </a:rPr>
              <a:t>3. Cadre Benchmark Router</a:t>
            </a:r>
          </a:p>
          <a:p>
            <a:r>
              <a:rPr sz="800">
                <a:solidFill>
                  <a:srgbClr val="475569"/>
                </a:solidFill>
                <a:latin typeface="Arial"/>
              </a:rPr>
              <a:t>Matches employee against gazetted role
Fetches JSO/SSO/Director target vectors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606040"/>
            <a:ext cx="2240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E22CE"/>
                </a:solidFill>
                <a:latin typeface="Arial"/>
              </a:rPr>
              <a:t>4. Grounded RAG Generator</a:t>
            </a:r>
          </a:p>
          <a:p>
            <a:r>
              <a:rPr sz="800">
                <a:solidFill>
                  <a:srgbClr val="475569"/>
                </a:solidFill>
                <a:latin typeface="Arial"/>
              </a:rPr>
              <a:t>Injects retrieved chunks into prompt
Applies Bloom's Taxonomy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606040"/>
            <a:ext cx="2240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D4ED8"/>
                </a:solidFill>
                <a:latin typeface="Arial"/>
              </a:rPr>
              <a:t>5. Evidence Weighted Ledger</a:t>
            </a:r>
          </a:p>
          <a:p>
            <a:r>
              <a:rPr sz="800">
                <a:solidFill>
                  <a:srgbClr val="475569"/>
                </a:solidFill>
                <a:latin typeface="Arial"/>
              </a:rPr>
              <a:t>Blends APAR (40%), Prior Courses (25%),
Diagnostics (20%), Peer Ratings (15%)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606040"/>
            <a:ext cx="21031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11D48"/>
                </a:solidFill>
                <a:latin typeface="Arial"/>
              </a:rPr>
              <a:t>6. Skill Gap Matrix Engine</a:t>
            </a:r>
          </a:p>
          <a:p>
            <a:r>
              <a:rPr sz="800">
                <a:solidFill>
                  <a:srgbClr val="475569"/>
                </a:solidFill>
                <a:latin typeface="Arial"/>
              </a:rPr>
              <a:t>Computes Gap = max(0, Target - Current)
Prioritizes Critical, High &amp; Medium gaps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840480"/>
            <a:ext cx="2240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F2137"/>
                </a:solidFill>
                <a:latin typeface="Arial"/>
              </a:rPr>
              <a:t>7. Verification &amp; Citation Guard</a:t>
            </a:r>
          </a:p>
          <a:p>
            <a:r>
              <a:rPr sz="800">
                <a:solidFill>
                  <a:srgbClr val="475569"/>
                </a:solidFill>
                <a:latin typeface="Arial"/>
              </a:rPr>
              <a:t>Verifies ground truth citations
Guarantees zero hallucinated formulas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840480"/>
            <a:ext cx="2240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0955B"/>
                </a:solidFill>
                <a:latin typeface="Arial"/>
              </a:rPr>
              <a:t>8. Actionable Output &amp; iGOT Sync</a:t>
            </a:r>
          </a:p>
          <a:p>
            <a:r>
              <a:rPr sz="800">
                <a:solidFill>
                  <a:srgbClr val="475569"/>
                </a:solidFill>
                <a:latin typeface="Arial"/>
              </a:rPr>
              <a:t>1-Click iGOT enrollment &amp; SCORM player
Auto-updates official promotional ledger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5074920"/>
            <a:ext cx="4023360" cy="1417320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3-LAYER SECURITY &amp; FALLBACK PIPELINE :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1. Client Sandbox: PII masking &amp; role token validation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2. Air-Gapped Resilient Engine: Heuristic offline generator if API fails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3. Audit Trail: Immutable SHA-256 hash logging for all promotion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074920"/>
            <a:ext cx="26517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955B"/>
                </a:solidFill>
                <a:latin typeface="Arial"/>
              </a:defRPr>
            </a:pPr>
            <a:r>
              <a:t>PROTOTYPE READINESS &amp; REPO :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GitHub: </a:t>
            </a:r>
            <a:r>
              <a:rPr sz="850" b="0">
                <a:solidFill>
                  <a:srgbClr val="1D4ED8"/>
                </a:solidFill>
                <a:latin typeface="Arial"/>
              </a:rPr>
              <a:t>github.com/aswinbalaji780-afk/SIH_PRO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Live Demo: </a:t>
            </a:r>
            <a:r>
              <a:rPr sz="850" b="0">
                <a:solidFill>
                  <a:srgbClr val="1D4ED8"/>
                </a:solidFill>
                <a:latin typeface="Arial"/>
              </a:rPr>
              <a:t>http://127.0.0.1:8000/docs</a:t>
            </a:r>
          </a:p>
          <a:p>
            <a:r>
              <a:rPr sz="850" b="1">
                <a:solidFill>
                  <a:srgbClr val="10955B"/>
                </a:solidFill>
                <a:latin typeface="Arial"/>
              </a:rPr>
              <a:t>STATUS: </a:t>
            </a:r>
            <a:r>
              <a:rPr sz="850" b="1">
                <a:solidFill>
                  <a:srgbClr val="10955B"/>
                </a:solidFill>
                <a:latin typeface="Arial"/>
              </a:rPr>
              <a:t>Working Prototype (&gt;90% Ready)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64592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Arial"/>
              </a:defRPr>
            </a:pPr>
            <a:r>
              <a:t>Team MoSPI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92608"/>
            <a:ext cx="7589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  <a:br/>
            <a:r>
              <a:t>Pillar Analysis, Risk Mitigation Matrix &amp; Phased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172A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600" b="1">
                <a:solidFill>
                  <a:srgbClr val="E11D48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661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362456"/>
            <a:ext cx="34930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FEASIBILITY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• Technical Feasibility:
</a:t>
            </a:r>
            <a:r>
              <a:rPr sz="900">
                <a:solidFill>
                  <a:srgbClr val="0F172A"/>
                </a:solidFill>
                <a:latin typeface="Arial"/>
              </a:rPr>
              <a:t> Modular microservices architecture with sub-200ms query response. Built on lightweight Python FastAPI and SQLite/PostgreSQL, eliminating vendor lock-in. Runs on low-end VMs and edge nodes without GPU requirements.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• Operational Feasibility:
</a:t>
            </a:r>
            <a:r>
              <a:rPr sz="900">
                <a:solidFill>
                  <a:srgbClr val="0F172A"/>
                </a:solidFill>
                <a:latin typeface="Arial"/>
              </a:rPr>
              <a:t> Zero learning curve: 3-step guided wizard for civil servants. Seamlessly ties into the existing annual APAR appraisal cycle and NSSTA training calendar with Jan Parichay single-sign-on.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• Economic &amp; Legal Viability:
</a:t>
            </a:r>
            <a:r>
              <a:rPr sz="900">
                <a:solidFill>
                  <a:srgbClr val="0F172A"/>
                </a:solidFill>
                <a:latin typeface="Arial"/>
              </a:rPr>
              <a:t> 100% compliant with India's Digital Personal Data Protection (DPDP) Act 2023. Reduces national statistical training costs by &gt;40% through targeted micro-learning instead of generic lectures.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5661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4256" y="1362456"/>
            <a:ext cx="34930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RISK MITIGATION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451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E11D48"/>
                </a:solidFill>
                <a:latin typeface="Arial"/>
              </a:rPr>
              <a:t>• Risk: Statistical Formula Hallucination
</a:t>
            </a:r>
            <a:r>
              <a:rPr sz="850">
                <a:solidFill>
                  <a:srgbClr val="475569"/>
                </a:solidFill>
                <a:latin typeface="Arial"/>
              </a:rPr>
              <a:t>LLM generating invalid sampling estimators or wrong mathematical formulas.
</a:t>
            </a:r>
            <a:r>
              <a:rPr sz="900" b="1">
                <a:solidFill>
                  <a:srgbClr val="10955B"/>
                </a:solidFill>
                <a:latin typeface="Arial"/>
              </a:rPr>
              <a:t>Mitigation: Constrained RAG grounded strictly in uploaded NSSTA manuals; questions cite exact document chapters; fallback heuristic builder.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E11D48"/>
                </a:solidFill>
                <a:latin typeface="Arial"/>
              </a:rPr>
              <a:t>• Risk: Cadre Assessment Reluctance
</a:t>
            </a:r>
            <a:r>
              <a:rPr sz="850">
                <a:solidFill>
                  <a:srgbClr val="475569"/>
                </a:solidFill>
                <a:latin typeface="Arial"/>
              </a:rPr>
              <a:t>Senior officers fearing punitive ratings from automated competency scoring.
</a:t>
            </a:r>
            <a:r>
              <a:rPr sz="900" b="1">
                <a:solidFill>
                  <a:srgbClr val="10955B"/>
                </a:solidFill>
                <a:latin typeface="Arial"/>
              </a:rPr>
              <a:t>Mitigation: Transparent, growth-oriented ledger showing career advancement roadmaps; diagnostic mode allows practice tests without permanent logging.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E11D48"/>
                </a:solidFill>
                <a:latin typeface="Arial"/>
              </a:rPr>
              <a:t>• Risk: Intermittent Field Connectivity
</a:t>
            </a:r>
            <a:r>
              <a:rPr sz="850">
                <a:solidFill>
                  <a:srgbClr val="475569"/>
                </a:solidFill>
                <a:latin typeface="Arial"/>
              </a:rPr>
              <a:t>Field statistical enumerators working in remote areas with zero network.
</a:t>
            </a:r>
            <a:r>
              <a:rPr sz="900" b="1">
                <a:solidFill>
                  <a:srgbClr val="10955B"/>
                </a:solidFill>
                <a:latin typeface="Arial"/>
              </a:rPr>
              <a:t>Mitigation: Offline-first PWA caching; downloadable PDF guides; background sync uploads answers once connection returns.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5661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83296" y="1362456"/>
            <a:ext cx="34930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PHASED IMPLEMENTATION ROADMAP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7451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• Phase 1: SIH Internal / Working MVP (Current - Done)
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Core citation-grounded RAG engine for MoSPI manuals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- 4-Role RBAC gateway (Learner, Trainer, Dept, Admin)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Mathematical cadre skill gap engine (JSO -&gt; SSO -&gt; Dir)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FastAPI backend with live Swagger API docs (/docs)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97706"/>
                </a:solidFill>
                <a:latin typeface="Arial"/>
              </a:rPr>
              <a:t>• Phase 2: Hackathon Grand Finale (Next 60 Days)
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iGOT Karmayogi live production API gateway integration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Full SCORM telemetry tracking for in-app course player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Bilingual English &amp; Hindi voice/text assistant layer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Integration with MoSPI annual APAR appraisal database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955B"/>
                </a:solidFill>
                <a:latin typeface="Arial"/>
              </a:rPr>
              <a:t>• Phase 3: Pan-India National Rollout (Post-SIH)
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Deployment across all 36 States/UTs DES departments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Integration with NIC MeghRaj National Cloud cluster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AI predictive cadre allocation for upcoming National Censuses</a:t>
            </a:r>
          </a:p>
          <a:p>
            <a:r>
              <a:rPr sz="850">
                <a:solidFill>
                  <a:srgbClr val="0F172A"/>
                </a:solidFill>
                <a:latin typeface="Arial"/>
              </a:rPr>
              <a:t>  - Comprehensive certification by DoPT Mission Karmayogi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64592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Arial"/>
              </a:defRPr>
            </a:pPr>
            <a:r>
              <a:t>Team MoSPI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92608"/>
            <a:ext cx="7589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  <a:br/>
            <a:r>
              <a:t>Quantifiable Efficiency Gains, Cadre Outcomes &amp; Public Value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172A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600" b="1">
                <a:solidFill>
                  <a:srgbClr val="E11D48"/>
                </a:solidFill>
                <a:latin typeface="Arial"/>
              </a:defRPr>
            </a:pPr>
            <a:r>
              <a:t>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3017520"/>
                <a:gridCol w="246888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 Quo (Manual / Generic LMS)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Karmayogi-Stat Platform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Quantifiable Improvement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Skill Gap Diagnostic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4 to 6 Weeks of manual annual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&lt; 3 Minutes automated gap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B"/>
                          </a:solidFill>
                          <a:latin typeface="Arial"/>
                        </a:defRPr>
                      </a:pPr>
                      <a:r>
                        <a:t>&gt; 95% Time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Training Alignment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~38% mismatch with actual job roles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Exact Cadre Benchmark Matrix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B"/>
                          </a:solidFill>
                          <a:latin typeface="Arial"/>
                        </a:defRPr>
                      </a:pPr>
                      <a:r>
                        <a:t>&lt; 3% Role Disparity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Manual Ingestion &amp; Quiz Prep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120+ Hours per faculty per semester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Instant Grounded RAG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B"/>
                          </a:solidFill>
                          <a:latin typeface="Arial"/>
                        </a:defRPr>
                      </a:pPr>
                      <a:r>
                        <a:t>100% Instant Exam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Statistical Formula Fidelity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Frequent LLM hallucination errors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100% Grounded in Official Manuals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B"/>
                          </a:solidFill>
                          <a:latin typeface="Arial"/>
                        </a:defRPr>
                      </a:pPr>
                      <a:r>
                        <a:t>Zero Fabricated Formulas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iGOT Karmayogi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&lt; 15% adoption (catalogue blindness)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Targeted Curated 1-Click Pathways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955B"/>
                          </a:solidFill>
                          <a:latin typeface="Arial"/>
                        </a:defRPr>
                      </a:pPr>
                      <a:r>
                        <a:t>&gt; 85% Active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520440"/>
            <a:ext cx="53949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3557016"/>
            <a:ext cx="53218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DIRECT IMPACT ON TARGET 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Statistical Officers (JSO / SSO): </a:t>
            </a:r>
            <a:r>
              <a:rPr sz="900">
                <a:solidFill>
                  <a:srgbClr val="0F172A"/>
                </a:solidFill>
                <a:latin typeface="Arial"/>
              </a:rPr>
              <a:t>Demystifies promotional prerequisites; provides transparent readiness scores and targeted upskilling for promotions to Senior Statistical Officer and Director.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NSSTA Faculty &amp; Trainers: </a:t>
            </a:r>
            <a:r>
              <a:rPr sz="900">
                <a:solidFill>
                  <a:srgbClr val="0F172A"/>
                </a:solidFill>
                <a:latin typeface="Arial"/>
              </a:rPr>
              <a:t>Automates question bank synthesis and syllabus alignment, freeing up over 120 hours of faculty time per training cycle.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Cadre Controlling Authority (DoPT / MoSPI): </a:t>
            </a:r>
            <a:r>
              <a:rPr sz="900">
                <a:solidFill>
                  <a:srgbClr val="0F172A"/>
                </a:solidFill>
                <a:latin typeface="Arial"/>
              </a:rPr>
              <a:t>Bird's-eye real-time workforce analytics across 12,000+ personnel, ensuring officers deployed on high-stakes surveys have proven competencies.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National Data Integrity: </a:t>
            </a:r>
            <a:r>
              <a:rPr sz="900">
                <a:solidFill>
                  <a:srgbClr val="0F172A"/>
                </a:solidFill>
                <a:latin typeface="Arial"/>
              </a:rPr>
              <a:t>Higher field precision directly elevates India's GDP, CPI, IIP, and PLFS survey credibility on global stages (IMF / World Bank / UNSD).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2044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Efficiency &amp; Cost Comparison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Diagnostic Prep: </a:t>
            </a:r>
            <a:r>
              <a:rPr sz="900" b="1">
                <a:solidFill>
                  <a:srgbClr val="10955B"/>
                </a:solidFill>
                <a:latin typeface="Arial"/>
              </a:rPr>
              <a:t>Weeks ➔ 3 Mins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Course Drop-out: </a:t>
            </a:r>
            <a:r>
              <a:rPr sz="900" b="1">
                <a:solidFill>
                  <a:srgbClr val="10955B"/>
                </a:solidFill>
                <a:latin typeface="Arial"/>
              </a:rPr>
              <a:t>65% ➔ &lt; 12%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Training Redundancy: </a:t>
            </a:r>
            <a:r>
              <a:rPr sz="900" b="1">
                <a:solidFill>
                  <a:srgbClr val="1D4ED8"/>
                </a:solidFill>
                <a:latin typeface="Arial"/>
              </a:rPr>
              <a:t>Over 40% Saved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Token Cost per Test: </a:t>
            </a:r>
            <a:r>
              <a:rPr sz="900" b="1">
                <a:solidFill>
                  <a:srgbClr val="D97706"/>
                </a:solidFill>
                <a:latin typeface="Arial"/>
              </a:rPr>
              <a:t>~INR 0.02 (Minimal)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352044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National Capacity Trajectory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Cadre Scale: </a:t>
            </a:r>
            <a:r>
              <a:rPr sz="900" b="1">
                <a:solidFill>
                  <a:srgbClr val="1D4ED8"/>
                </a:solidFill>
                <a:latin typeface="Arial"/>
              </a:rPr>
              <a:t>12,480+ Officers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Survey Rounds: </a:t>
            </a:r>
            <a:r>
              <a:rPr sz="900" b="1">
                <a:solidFill>
                  <a:srgbClr val="10955B"/>
                </a:solidFill>
                <a:latin typeface="Arial"/>
              </a:rPr>
              <a:t>100% PLFS/ASI Coverage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Sovereignty: </a:t>
            </a:r>
            <a:r>
              <a:rPr sz="900" b="1">
                <a:solidFill>
                  <a:srgbClr val="7E22CE"/>
                </a:solidFill>
                <a:latin typeface="Arial"/>
              </a:rPr>
              <a:t>Air-gapped NIC Deployable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Audit Readiness: </a:t>
            </a:r>
            <a:r>
              <a:rPr sz="900" b="1">
                <a:solidFill>
                  <a:srgbClr val="10955B"/>
                </a:solidFill>
                <a:latin typeface="Arial"/>
              </a:rPr>
              <a:t>Tamper-Evident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806440"/>
            <a:ext cx="5394960" cy="685800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 i="1">
                <a:solidFill>
                  <a:srgbClr val="FFFFFF"/>
                </a:solidFill>
                <a:latin typeface="Arial"/>
              </a:defRPr>
            </a:pPr>
            <a:r>
              <a:t>"Transforming Civil Service Training from Rule-Based to Role-Based Competence."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645920" cy="777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Arial"/>
              </a:defRPr>
            </a:pPr>
            <a:r>
              <a:t>Team MoSPI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92608"/>
            <a:ext cx="7589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RESEARCH AND REFERENCES</a:t>
            </a:r>
            <a:br/>
            <a:r>
              <a:t>Statutory Frameworks, Academic Foundations &amp; Institutional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172A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600" b="1">
                <a:solidFill>
                  <a:srgbClr val="E11D48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661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362456"/>
            <a:ext cx="34930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PROBLEM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a) Mission Karmayogi (DoPT, 2021):
</a:t>
            </a:r>
            <a:r>
              <a:rPr sz="900">
                <a:solidFill>
                  <a:srgbClr val="0F172A"/>
                </a:solidFill>
                <a:latin typeface="Arial"/>
              </a:rPr>
              <a:t>National Programme for Civil Services Capacity Building (NPCSCB) Framework for Rule to Role Competencies.
Official Portal: karmayogibharat.gov.in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b) MoSPI Strategic Plan (2024-2029):
</a:t>
            </a:r>
            <a:r>
              <a:rPr sz="900">
                <a:solidFill>
                  <a:srgbClr val="0F172A"/>
                </a:solidFill>
                <a:latin typeface="Arial"/>
              </a:rPr>
              <a:t>Modernization of National Statistical System, Capacity Upgradation &amp; Quality Assurance Standards.
Policy Record: mospi.gov.in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c) National Statistical Commission (NSC):
</a:t>
            </a:r>
            <a:r>
              <a:rPr sz="900">
                <a:solidFill>
                  <a:srgbClr val="0F172A"/>
                </a:solidFill>
                <a:latin typeface="Arial"/>
              </a:rPr>
              <a:t>Recommendations on Official Statistics Auditing, Sampling Precision, and Field Training Standards.
Statutory Portal: nsc.gov.in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d) NSSTA Training Directives (2024):
</a:t>
            </a:r>
            <a:r>
              <a:rPr sz="900">
                <a:solidFill>
                  <a:srgbClr val="0F172A"/>
                </a:solidFill>
                <a:latin typeface="Arial"/>
              </a:rPr>
              <a:t>Core Syllabi for ISS Probationers, SSS Officers, and State DES Statistical Enumerators.
Academy Guide: nssta.gov.in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5661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4256" y="1362456"/>
            <a:ext cx="34930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TECHNICAL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451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a) Lewis et al. (NeurIPS, 2020):
</a:t>
            </a:r>
            <a:r>
              <a:rPr sz="900">
                <a:solidFill>
                  <a:srgbClr val="0F172A"/>
                </a:solidFill>
                <a:latin typeface="Arial"/>
              </a:rPr>
              <a:t>Retrieval-Augmented Generation for Knowledge-Intensive NLP Tasks.
Research Paper: arxiv.org/abs/2005.11401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b) Bloom, B. S. (1956) &amp; Anderson (2001):
</a:t>
            </a:r>
            <a:r>
              <a:rPr sz="900">
                <a:solidFill>
                  <a:srgbClr val="0F172A"/>
                </a:solidFill>
                <a:latin typeface="Arial"/>
              </a:rPr>
              <a:t>A Taxonomy for Learning, Teaching, and Assessing: Cognitive Domain Hierarchy.
Classic Monograph: Pearson Educational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c) Hansen, M. H., &amp; Hurwitz, W. N. (1943):
</a:t>
            </a:r>
            <a:r>
              <a:rPr sz="900">
                <a:solidFill>
                  <a:srgbClr val="0F172A"/>
                </a:solidFill>
                <a:latin typeface="Arial"/>
              </a:rPr>
              <a:t>On the Theory of Sampling from Finite Populations with Probability Proportional to Size (PPS).
Journal: Annals of Mathematical Statistics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d) MeitY Digital India &amp; NIC Cloud:
</a:t>
            </a:r>
            <a:r>
              <a:rPr sz="900">
                <a:solidFill>
                  <a:srgbClr val="0F172A"/>
                </a:solidFill>
                <a:latin typeface="Arial"/>
              </a:rPr>
              <a:t>MeghRaj Cloud Guidelines &amp; Microservices Interoperability Specifications for Government Portals.
Official Portal: meity.gov.in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5661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83296" y="1362456"/>
            <a:ext cx="3493008" cy="438912"/>
          </a:xfrm>
          <a:prstGeom prst="roundRect">
            <a:avLst/>
          </a:prstGeom>
          <a:solidFill>
            <a:srgbClr val="0F2137"/>
          </a:solidFill>
          <a:ln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MARKET &amp; APPLICATION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74519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a) DoPT Karmayogi Bharat SPV (2024):
</a:t>
            </a:r>
            <a:r>
              <a:rPr sz="900">
                <a:solidFill>
                  <a:srgbClr val="0F172A"/>
                </a:solidFill>
                <a:latin typeface="Arial"/>
              </a:rPr>
              <a:t>iGOT Karmayogi Course Marketplace &amp; Competency Passports for Indian Civil Servants.
Portal Link: igotkarmayogi.gov.in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b) United Nations Statistics Division (UNSD):
</a:t>
            </a:r>
            <a:r>
              <a:rPr sz="900">
                <a:solidFill>
                  <a:srgbClr val="0F172A"/>
                </a:solidFill>
                <a:latin typeface="Arial"/>
              </a:rPr>
              <a:t>Fundamental Principles of Official Statistics &amp; System of National Accounts (SNA 2008).
Global Standards: unstats.un.org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c) Periodic Labour Force Survey (PLFS):
</a:t>
            </a:r>
            <a:r>
              <a:rPr sz="900">
                <a:solidFill>
                  <a:srgbClr val="0F172A"/>
                </a:solidFill>
                <a:latin typeface="Arial"/>
              </a:rPr>
              <a:t>MoSPI Field Operations Division Verification Standards and Schedule Data Quality Protocols.
Survey Records: microdata.gov.in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D4ED8"/>
                </a:solidFill>
                <a:latin typeface="Arial"/>
              </a:rPr>
              <a:t>d) Project Repository &amp; Live Prototype:
</a:t>
            </a:r>
            <a:r>
              <a:rPr sz="900">
                <a:solidFill>
                  <a:srgbClr val="0F172A"/>
                </a:solidFill>
                <a:latin typeface="Arial"/>
              </a:rPr>
              <a:t>GitHub Repository: github.com/aswinbalaji780-afk/SIH_PRO
FastAPI Swagger UI: http://127.0.0.1:8000/docs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