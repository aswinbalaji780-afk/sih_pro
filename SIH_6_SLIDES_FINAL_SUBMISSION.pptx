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inbalaji K C" userId="0a4e38581b49b1d0" providerId="LiveId" clId="{9031A53F-E40D-4566-B6AA-5E7E22D76E81}"/>
    <pc:docChg chg="undo custSel modSld">
      <pc:chgData name="aswinbalaji K C" userId="0a4e38581b49b1d0" providerId="LiveId" clId="{9031A53F-E40D-4566-B6AA-5E7E22D76E81}" dt="2026-09-06T08:33:59.604" v="297" actId="1076"/>
      <pc:docMkLst>
        <pc:docMk/>
      </pc:docMkLst>
      <pc:sldChg chg="delSp modSp mod">
        <pc:chgData name="aswinbalaji K C" userId="0a4e38581b49b1d0" providerId="LiveId" clId="{9031A53F-E40D-4566-B6AA-5E7E22D76E81}" dt="2026-09-06T08:33:59.604" v="297" actId="1076"/>
        <pc:sldMkLst>
          <pc:docMk/>
          <pc:sldMk cId="0" sldId="281"/>
        </pc:sldMkLst>
        <pc:spChg chg="del">
          <ac:chgData name="aswinbalaji K C" userId="0a4e38581b49b1d0" providerId="LiveId" clId="{9031A53F-E40D-4566-B6AA-5E7E22D76E81}" dt="2026-09-06T08:28:10.210" v="0" actId="478"/>
          <ac:spMkLst>
            <pc:docMk/>
            <pc:sldMk cId="0" sldId="281"/>
            <ac:spMk id="9" creationId="{00000000-0000-0000-0000-000000000000}"/>
          </ac:spMkLst>
        </pc:spChg>
        <pc:spChg chg="mod">
          <ac:chgData name="aswinbalaji K C" userId="0a4e38581b49b1d0" providerId="LiveId" clId="{9031A53F-E40D-4566-B6AA-5E7E22D76E81}" dt="2026-09-06T08:33:51.847" v="295" actId="1076"/>
          <ac:spMkLst>
            <pc:docMk/>
            <pc:sldMk cId="0" sldId="281"/>
            <ac:spMk id="10" creationId="{5DBCE864-823D-4A13-9607-5DA1F0ED5FB8}"/>
          </ac:spMkLst>
        </pc:spChg>
        <pc:spChg chg="mod">
          <ac:chgData name="aswinbalaji K C" userId="0a4e38581b49b1d0" providerId="LiveId" clId="{9031A53F-E40D-4566-B6AA-5E7E22D76E81}" dt="2026-09-06T08:33:14.839" v="294" actId="1076"/>
          <ac:spMkLst>
            <pc:docMk/>
            <pc:sldMk cId="0" sldId="281"/>
            <ac:spMk id="15362" creationId="{00000000-0000-0000-0000-000000000000}"/>
          </ac:spMkLst>
        </pc:spChg>
        <pc:picChg chg="mod">
          <ac:chgData name="aswinbalaji K C" userId="0a4e38581b49b1d0" providerId="LiveId" clId="{9031A53F-E40D-4566-B6AA-5E7E22D76E81}" dt="2026-09-06T08:33:59.604" v="297" actId="1076"/>
          <ac:picMkLst>
            <pc:docMk/>
            <pc:sldMk cId="0" sldId="281"/>
            <ac:picMk id="11" creationId="{00000000-0000-0000-0000-000000000000}"/>
          </ac:picMkLst>
        </pc:picChg>
      </pc:sldChg>
      <pc:sldChg chg="delSp modSp mod">
        <pc:chgData name="aswinbalaji K C" userId="0a4e38581b49b1d0" providerId="LiveId" clId="{9031A53F-E40D-4566-B6AA-5E7E22D76E81}" dt="2026-09-06T08:29:08.419" v="7" actId="1076"/>
        <pc:sldMkLst>
          <pc:docMk/>
          <pc:sldMk cId="0" sldId="290"/>
        </pc:sldMkLst>
        <pc:spChg chg="mod">
          <ac:chgData name="aswinbalaji K C" userId="0a4e38581b49b1d0" providerId="LiveId" clId="{9031A53F-E40D-4566-B6AA-5E7E22D76E81}" dt="2026-09-06T08:28:28.426" v="2" actId="6549"/>
          <ac:spMkLst>
            <pc:docMk/>
            <pc:sldMk cId="0" sldId="290"/>
            <ac:spMk id="7" creationId="{00000000-0000-0000-0000-000000000000}"/>
          </ac:spMkLst>
        </pc:spChg>
        <pc:spChg chg="del">
          <ac:chgData name="aswinbalaji K C" userId="0a4e38581b49b1d0" providerId="LiveId" clId="{9031A53F-E40D-4566-B6AA-5E7E22D76E81}" dt="2026-09-06T08:28:52.329" v="4" actId="478"/>
          <ac:spMkLst>
            <pc:docMk/>
            <pc:sldMk cId="0" sldId="290"/>
            <ac:spMk id="10" creationId="{AD4F69D3-EEB0-4C4C-9434-B9960FB5854C}"/>
          </ac:spMkLst>
        </pc:spChg>
        <pc:spChg chg="mod">
          <ac:chgData name="aswinbalaji K C" userId="0a4e38581b49b1d0" providerId="LiveId" clId="{9031A53F-E40D-4566-B6AA-5E7E22D76E81}" dt="2026-09-06T08:29:00.779" v="5" actId="1076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aswinbalaji K C" userId="0a4e38581b49b1d0" providerId="LiveId" clId="{9031A53F-E40D-4566-B6AA-5E7E22D76E81}" dt="2026-09-06T08:29:08.419" v="7" actId="1076"/>
          <ac:picMkLst>
            <pc:docMk/>
            <pc:sldMk cId="0" sldId="290"/>
            <ac:picMk id="9" creationId="{00000000-0000-0000-0000-000000000000}"/>
          </ac:picMkLst>
        </pc:picChg>
      </pc:sldChg>
      <pc:sldChg chg="addSp delSp modSp mod">
        <pc:chgData name="aswinbalaji K C" userId="0a4e38581b49b1d0" providerId="LiveId" clId="{9031A53F-E40D-4566-B6AA-5E7E22D76E81}" dt="2026-09-06T08:33:02.054" v="293" actId="1076"/>
        <pc:sldMkLst>
          <pc:docMk/>
          <pc:sldMk cId="0" sldId="291"/>
        </pc:sldMkLst>
        <pc:spChg chg="del mod">
          <ac:chgData name="aswinbalaji K C" userId="0a4e38581b49b1d0" providerId="LiveId" clId="{9031A53F-E40D-4566-B6AA-5E7E22D76E81}" dt="2026-09-06T08:32:47.128" v="291" actId="478"/>
          <ac:spMkLst>
            <pc:docMk/>
            <pc:sldMk cId="0" sldId="291"/>
            <ac:spMk id="4" creationId="{00000000-0000-0000-0000-000000000000}"/>
          </ac:spMkLst>
        </pc:spChg>
        <pc:spChg chg="add del mod">
          <ac:chgData name="aswinbalaji K C" userId="0a4e38581b49b1d0" providerId="LiveId" clId="{9031A53F-E40D-4566-B6AA-5E7E22D76E81}" dt="2026-09-06T08:32:55.380" v="292" actId="478"/>
          <ac:spMkLst>
            <pc:docMk/>
            <pc:sldMk cId="0" sldId="291"/>
            <ac:spMk id="7" creationId="{81298C62-72A0-7614-D7FD-C3EAE1833DBB}"/>
          </ac:spMkLst>
        </pc:spChg>
        <pc:spChg chg="mod">
          <ac:chgData name="aswinbalaji K C" userId="0a4e38581b49b1d0" providerId="LiveId" clId="{9031A53F-E40D-4566-B6AA-5E7E22D76E81}" dt="2026-09-06T08:32:30.840" v="242" actId="20577"/>
          <ac:spMkLst>
            <pc:docMk/>
            <pc:sldMk cId="0" sldId="291"/>
            <ac:spMk id="8" creationId="{00000000-0000-0000-0000-000000000000}"/>
          </ac:spMkLst>
        </pc:spChg>
        <pc:spChg chg="mod">
          <ac:chgData name="aswinbalaji K C" userId="0a4e38581b49b1d0" providerId="LiveId" clId="{9031A53F-E40D-4566-B6AA-5E7E22D76E81}" dt="2026-09-06T08:33:02.054" v="293" actId="1076"/>
          <ac:spMkLst>
            <pc:docMk/>
            <pc:sldMk cId="0" sldId="291"/>
            <ac:spMk id="10" creationId="{00000000-0000-0000-0000-000000000000}"/>
          </ac:spMkLst>
        </pc:spChg>
      </pc:sldChg>
      <pc:sldChg chg="delSp modSp mod">
        <pc:chgData name="aswinbalaji K C" userId="0a4e38581b49b1d0" providerId="LiveId" clId="{9031A53F-E40D-4566-B6AA-5E7E22D76E81}" dt="2026-09-06T08:29:21.939" v="9" actId="478"/>
        <pc:sldMkLst>
          <pc:docMk/>
          <pc:sldMk cId="3753387913" sldId="293"/>
        </pc:sldMkLst>
        <pc:spChg chg="del">
          <ac:chgData name="aswinbalaji K C" userId="0a4e38581b49b1d0" providerId="LiveId" clId="{9031A53F-E40D-4566-B6AA-5E7E22D76E81}" dt="2026-09-06T08:29:21.939" v="9" actId="478"/>
          <ac:spMkLst>
            <pc:docMk/>
            <pc:sldMk cId="3753387913" sldId="293"/>
            <ac:spMk id="10" creationId="{AD4F69D3-EEB0-4C4C-9434-B9960FB5854C}"/>
          </ac:spMkLst>
        </pc:spChg>
        <pc:spChg chg="mod">
          <ac:chgData name="aswinbalaji K C" userId="0a4e38581b49b1d0" providerId="LiveId" clId="{9031A53F-E40D-4566-B6AA-5E7E22D76E81}" dt="2026-09-06T08:29:19.394" v="8" actId="1076"/>
          <ac:spMkLst>
            <pc:docMk/>
            <pc:sldMk cId="3753387913" sldId="293"/>
            <ac:spMk id="17410" creationId="{00000000-0000-0000-0000-000000000000}"/>
          </ac:spMkLst>
        </pc:spChg>
      </pc:sldChg>
      <pc:sldChg chg="delSp modSp mod">
        <pc:chgData name="aswinbalaji K C" userId="0a4e38581b49b1d0" providerId="LiveId" clId="{9031A53F-E40D-4566-B6AA-5E7E22D76E81}" dt="2026-09-06T08:29:31.695" v="11" actId="1076"/>
        <pc:sldMkLst>
          <pc:docMk/>
          <pc:sldMk cId="2997144140" sldId="294"/>
        </pc:sldMkLst>
        <pc:spChg chg="del">
          <ac:chgData name="aswinbalaji K C" userId="0a4e38581b49b1d0" providerId="LiveId" clId="{9031A53F-E40D-4566-B6AA-5E7E22D76E81}" dt="2026-09-06T08:29:26.462" v="10" actId="478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aswinbalaji K C" userId="0a4e38581b49b1d0" providerId="LiveId" clId="{9031A53F-E40D-4566-B6AA-5E7E22D76E81}" dt="2026-09-06T08:29:31.695" v="11" actId="1076"/>
          <ac:spMkLst>
            <pc:docMk/>
            <pc:sldMk cId="2997144140" sldId="294"/>
            <ac:spMk id="17410" creationId="{00000000-0000-0000-0000-000000000000}"/>
          </ac:spMkLst>
        </pc:spChg>
      </pc:sldChg>
      <pc:sldChg chg="delSp modSp mod">
        <pc:chgData name="aswinbalaji K C" userId="0a4e38581b49b1d0" providerId="LiveId" clId="{9031A53F-E40D-4566-B6AA-5E7E22D76E81}" dt="2026-09-06T08:29:46.017" v="13" actId="478"/>
        <pc:sldMkLst>
          <pc:docMk/>
          <pc:sldMk cId="3916788613" sldId="296"/>
        </pc:sldMkLst>
        <pc:spChg chg="del">
          <ac:chgData name="aswinbalaji K C" userId="0a4e38581b49b1d0" providerId="LiveId" clId="{9031A53F-E40D-4566-B6AA-5E7E22D76E81}" dt="2026-09-06T08:29:46.017" v="13" actId="478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aswinbalaji K C" userId="0a4e38581b49b1d0" providerId="LiveId" clId="{9031A53F-E40D-4566-B6AA-5E7E22D76E81}" dt="2026-09-06T08:29:43.503" v="12" actId="1076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1" y="1613925"/>
            <a:ext cx="649712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000" b="1" dirty="0">
                <a:solidFill>
                  <a:srgbClr val="1D4ED8"/>
                </a:solidFill>
                <a:latin typeface="Arial"/>
              </a:rPr>
              <a:t>Problem Statement ID:</a:t>
            </a:r>
            <a:r>
              <a:rPr sz="2000" b="0" dirty="0">
                <a:solidFill>
                  <a:srgbClr val="334155"/>
                </a:solidFill>
                <a:latin typeface="Arial"/>
              </a:rPr>
              <a:t> MoSPI-NSSTA-2026-01</a:t>
            </a:r>
            <a:endParaRPr lang="en-US"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0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000" b="1" dirty="0">
                <a:solidFill>
                  <a:srgbClr val="1D4ED8"/>
                </a:solidFill>
                <a:latin typeface="Arial"/>
              </a:rPr>
              <a:t>Problem Statement Title:</a:t>
            </a:r>
            <a:r>
              <a:rPr sz="2000" b="0" dirty="0">
                <a:solidFill>
                  <a:srgbClr val="334155"/>
                </a:solidFill>
                <a:latin typeface="Arial"/>
              </a:rPr>
              <a:t> National Skill Intelligence &amp; Learning Platform</a:t>
            </a:r>
            <a:endParaRPr lang="en-US"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000" b="1" dirty="0">
                <a:solidFill>
                  <a:srgbClr val="1D4ED8"/>
                </a:solidFill>
                <a:latin typeface="Arial"/>
              </a:rPr>
              <a:t>Theme:</a:t>
            </a:r>
            <a:r>
              <a:rPr sz="2000" b="0" dirty="0">
                <a:solidFill>
                  <a:srgbClr val="334155"/>
                </a:solidFill>
                <a:latin typeface="Arial"/>
              </a:rPr>
              <a:t> Smart Education &amp; Civil Service Capacity Building</a:t>
            </a:r>
            <a:endParaRPr lang="en-US"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000" b="1" dirty="0">
                <a:solidFill>
                  <a:srgbClr val="1D4ED8"/>
                </a:solidFill>
                <a:latin typeface="Arial"/>
              </a:rPr>
              <a:t>PS Category:</a:t>
            </a:r>
            <a:r>
              <a:rPr sz="2000" b="0" dirty="0">
                <a:solidFill>
                  <a:srgbClr val="334155"/>
                </a:solidFill>
                <a:latin typeface="Arial"/>
              </a:rPr>
              <a:t> Software</a:t>
            </a:r>
            <a:endParaRPr lang="en-US"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000" b="1" dirty="0">
                <a:solidFill>
                  <a:srgbClr val="1D4ED8"/>
                </a:solidFill>
                <a:latin typeface="Arial"/>
              </a:rPr>
              <a:t>Team ID:</a:t>
            </a:r>
            <a:r>
              <a:rPr sz="2000" b="0" dirty="0">
                <a:solidFill>
                  <a:srgbClr val="334155"/>
                </a:solidFill>
                <a:latin typeface="Arial"/>
              </a:rPr>
              <a:t> </a:t>
            </a:r>
            <a:endParaRPr lang="en-US"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sz="2000" b="0" dirty="0">
              <a:solidFill>
                <a:srgbClr val="334155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000" b="1" dirty="0">
                <a:solidFill>
                  <a:srgbClr val="1D4ED8"/>
                </a:solidFill>
                <a:latin typeface="Arial"/>
              </a:rPr>
              <a:t>Team Name:</a:t>
            </a:r>
            <a:r>
              <a:rPr sz="2000" b="0" dirty="0">
                <a:solidFill>
                  <a:srgbClr val="334155"/>
                </a:solidFill>
                <a:latin typeface="Arial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sz="1500" b="0" dirty="0">
              <a:solidFill>
                <a:srgbClr val="334155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031" y="6048238"/>
            <a:ext cx="2730910" cy="7808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IDEA TITLE: NATIONAL SKILL INTELLIGENCE &amp; LEARNING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6712" y="1447937"/>
            <a:ext cx="1210528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7160" tIns="137160" rIns="137160" bIns="13716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Proposed Solution (Describe your Idea/Solution/Prototype):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Closed-Loop Skill Intelligence and Adaptive Upskilling Ecosystem built specifically for </a:t>
            </a:r>
            <a:r>
              <a:rPr dirty="0" err="1"/>
              <a:t>MoSPI</a:t>
            </a:r>
            <a:r>
              <a:rPr dirty="0"/>
              <a:t> (ISS/SSS/DES) and NSSTA, natively integrated with </a:t>
            </a:r>
            <a:r>
              <a:rPr dirty="0" err="1"/>
              <a:t>iGOT</a:t>
            </a:r>
            <a:r>
              <a:rPr dirty="0"/>
              <a:t> </a:t>
            </a:r>
            <a:r>
              <a:rPr dirty="0" err="1"/>
              <a:t>Karmayogi</a:t>
            </a:r>
            <a:r>
              <a:rPr dirty="0"/>
              <a:t>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Replaces static civil service training with an automated competency lifecycle: Diagnostic Benchmarking -&gt; Cadre Gap Calculation -&gt; Curated Learning -&gt; RAG Assessment -&gt; Dynamic Career Progression.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Detailed explanation of the proposed solution: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- 4-Source Evidence Weighted Ledger: Blends APAR performance ratings (40%), Prior Course History (25%), Diagnostic Assessments (20%), and Peer/Supervisor Feedback (15%) for robust competency scoring.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Mathematical Cadre Vector Delta: Computes precise gaps Gap(c) = max(0, Target(c) - Current(c)) against official </a:t>
            </a:r>
            <a:r>
              <a:rPr dirty="0" err="1"/>
              <a:t>gazetted</a:t>
            </a:r>
            <a:r>
              <a:rPr dirty="0"/>
              <a:t> benchmarks for Junior Statistical Officers (JSO), Senior Statistical Officers (SSO), and Directors.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Hybrid Multi-Tier AI Recommender: Matches calculated gaps against NSSTA and </a:t>
            </a:r>
            <a:r>
              <a:rPr dirty="0" err="1"/>
              <a:t>iGOT</a:t>
            </a:r>
            <a:r>
              <a:rPr dirty="0"/>
              <a:t> catalogues via cosine similarity, with dynamic LLM pathway synthesis for cross-domain competencies.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How it addresses the problem: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Solves 'Catalogue Blindness': Replaces unguided browsing with personalized, role-specific mandatory &amp; elective learning roadmaps.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Eliminates </a:t>
            </a:r>
            <a:r>
              <a:rPr dirty="0" err="1"/>
              <a:t>Unbenchmarked</a:t>
            </a:r>
            <a:r>
              <a:rPr dirty="0"/>
              <a:t> Cadre Stagnation: Provides transparent readiness indices for promotions and cadre allocations.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Automated Continuous Verification: Automatically updates competency scores upon passing proctored module tests.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Innovation and uniqueness of the solution: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Strict Cadre Hierarchy Gatekeeper: Prevents skipped rankings; aligns roadmaps with </a:t>
            </a:r>
            <a:r>
              <a:rPr dirty="0" err="1"/>
              <a:t>MoSPI</a:t>
            </a:r>
            <a:r>
              <a:rPr dirty="0"/>
              <a:t> promotional rules.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Grounded Document-RAG MCQ Engine: Dynamically generates hallucination-free, citation-grounded assessments from uploaded NSSTA manuals.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Real-Time </a:t>
            </a:r>
            <a:r>
              <a:rPr dirty="0" err="1"/>
              <a:t>iGOT</a:t>
            </a:r>
            <a:r>
              <a:rPr dirty="0"/>
              <a:t> Integration: 1-click live API enrollment and embedded interactive course player with SCORM tracking.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712" y="57150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Team </a:t>
            </a:r>
            <a:r>
              <a:rPr dirty="0" err="1"/>
              <a:t>MoSPI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438" y="532667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0807" y="1144500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7160" tIns="137160" rIns="137160" bIns="13716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Technologies to be used (Why Each Was Chosen):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Frontend: Responsive Vanilla JavaScript (ES6+), HTML5, CSS3, Tailwind utilities -- Zero heavy node dependencies; ultra-lightweight (&lt;250KB payload) designed specifically for low-bandwidth National Informatics Centre (NIC) intranets and remote field offices.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Backend: </a:t>
            </a:r>
            <a:r>
              <a:rPr dirty="0" err="1"/>
              <a:t>FastAPI</a:t>
            </a:r>
            <a:r>
              <a:rPr dirty="0"/>
              <a:t> (Python 3.12 Asynchronous ASGI) -- High-throughput concurrency, asynchronous background tasks, strict </a:t>
            </a:r>
            <a:r>
              <a:rPr dirty="0" err="1"/>
              <a:t>Pydantic</a:t>
            </a:r>
            <a:r>
              <a:rPr dirty="0"/>
              <a:t> v2 data validation, and automated Swagger/</a:t>
            </a:r>
            <a:r>
              <a:rPr dirty="0" err="1"/>
              <a:t>OpenAPI</a:t>
            </a:r>
            <a:r>
              <a:rPr dirty="0"/>
              <a:t> documentation (/docs).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Database Layer: SQLite (Prototype/Edge) / PostgreSQL (Production) via </a:t>
            </a:r>
            <a:r>
              <a:rPr dirty="0" err="1"/>
              <a:t>SQLAlchemy</a:t>
            </a:r>
            <a:r>
              <a:rPr dirty="0"/>
              <a:t> ORM -- Fast vector indexing, relational audit logging, and isolated schemas for 4 RBAC personas.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AI &amp; RAG Pipeline: Grounded Document RAG powered by Google Gemini 1.5 Pro / Flash + </a:t>
            </a:r>
            <a:r>
              <a:rPr dirty="0" err="1"/>
              <a:t>PyPDF</a:t>
            </a:r>
            <a:r>
              <a:rPr dirty="0"/>
              <a:t> text chunking -- Guarantees zero hallucinations through strict document citations and JSON schema enforcement.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Enterprise Interoperability: RESTful JSON API Bridge connecting with </a:t>
            </a:r>
            <a:r>
              <a:rPr dirty="0" err="1"/>
              <a:t>iGOT</a:t>
            </a:r>
            <a:r>
              <a:rPr dirty="0"/>
              <a:t> </a:t>
            </a:r>
            <a:r>
              <a:rPr dirty="0" err="1"/>
              <a:t>Karmayogi</a:t>
            </a:r>
            <a:r>
              <a:rPr dirty="0"/>
              <a:t> Course APIs and embedded SCORM-compatible modal players.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Methodology and process for implementation (6-Stage Pipeline):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Stage 1 [Ingestion &amp; RBAC]: Strict role segregation across Learner (Officer), Trainer (Faculty), Cadre Manager, and System Admin.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Stage 2 [Evidence Synthesis]: Normalizes APAR scores, historical certifications, and baseline diagnostic tests into 5-tier mastery levels.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Stage 3 [Vector Gap Analysis]: Identifies exact deficiency points across </a:t>
            </a:r>
            <a:r>
              <a:rPr dirty="0" err="1"/>
              <a:t>MoSPI</a:t>
            </a:r>
            <a:r>
              <a:rPr dirty="0"/>
              <a:t> domains (Sample Surveys, National Accounts, Index Numbers, Official Statistics).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Stage 4 [Automated Curated Pathways]: Recommends targeted NSSTA classroom courses and </a:t>
            </a:r>
            <a:r>
              <a:rPr dirty="0" err="1"/>
              <a:t>iGOT</a:t>
            </a:r>
            <a:r>
              <a:rPr dirty="0"/>
              <a:t> digital modules with 1-click enrollment.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Stage 5 [Adaptive RAG Assessment]: Generates Bloom's Taxonomy MCQs (Remembering, Understanding, Applying) with anti-cheat shuffle and timed enforcement.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Stage 6 [Working Prototype &amp; Validation]: Fully functional live system with complete </a:t>
            </a:r>
            <a:r>
              <a:rPr dirty="0" err="1"/>
              <a:t>OpenAPI</a:t>
            </a:r>
            <a:r>
              <a:rPr dirty="0"/>
              <a:t> test suite at http://127.0.0.1:8000/docs.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</a:t>
            </a:r>
            <a:r>
              <a:rPr lang="en-US" dirty="0" err="1">
                <a:solidFill>
                  <a:schemeClr val="bg1"/>
                </a:solidFill>
              </a:rPr>
              <a:t>Templte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Team MoSPI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116" y="6008157"/>
            <a:ext cx="2966884" cy="848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77158" y="1440480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7160" tIns="137160" rIns="137160" bIns="13716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rgbClr val="1D4ED8"/>
                </a:solidFill>
                <a:latin typeface="Arial"/>
              </a:defRPr>
            </a:pPr>
            <a:r>
              <a:t>Analysis of the feasibility of the idea (4 Pillars):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Technical Feasibility: Built on standard Python &amp; vanilla web technologies; runs seamlessly on standard NIC Cloud (MeghRaj) virtual machines without requiring expensive on-premise GPU clusters.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Operational Feasibility: Plug-and-play single sign-on (SSO) compatible with Jan Parichay and Mission Karmayogi learner ID schemas.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Financial Feasibility: Cost per officer evaluation is near zero (~INR 0.02 API token cost per quiz generated); uses open-source web stack.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Legal &amp; Regulatory Feasibility: Fully compliant with National Data Governance Framework Policy (NDGFP) and CERT-In civil service data privacy guidelines.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t>Potential challenges and identified risks: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Risk A (AI Hallucinations): LLM generating inaccurate statistical formulas or conflicting definitions during cadre examinations.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Risk B (Network Disparity): Poor internet connectivity across regional MoSPI Field Operations Division (FOD) sub-district offices.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Risk C (Adoption Friction): Apprehension among senior officers regarding automated competency gap evaluations and AI scoring.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t>Strategies for overcoming these challenges: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Mitigation A: Grounded RAG with Document Isolation -- MCQs and questions are generated strictly from uploaded, vetted NSSTA PDF guides with verbatim paragraph citations displayed to the officer.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Mitigation B: Offline PWA &amp; Light-Client Architecture -- Complete UI renders in under 250KB, with offline quiz caching and background sync upon reconnection.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Mitigation C: Transparent Evidence Ledger &amp; Explainable AI -- Clear visual breakdown showing officers exactly how their APAR, past tests, and course completions influenced their skill index.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Team MoSPI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11620" y="1841155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7160" tIns="137160" rIns="137160" bIns="13716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rgbClr val="1D4ED8"/>
                </a:solidFill>
                <a:latin typeface="Arial"/>
              </a:defRPr>
            </a:pPr>
            <a:r>
              <a:t>Potential impact on the target audience: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MoSPI Statistical Officers (ISS / SSS / DES): Clear, gamified career growth visibility; demystifies promotion prerequisites from JSO to SSO, Joint Director, and Director.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NSSTA Faculty &amp; Academic Trainers: Instant automated generation of verified question banks and curriculum mapping, reducing course prep workload by over 120 hours per training cycle.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Cadre Managers &amp; DoPT Leadership: Bird's-eye real-time visibility into statistical talent distribution across central ministries and state directorates for optimal project deployments.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t>Benefits of the solution (social, economic, environmental, etc.):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Economic Benefits: Over 40% reduction in training redundancy and travel TA/DA expenditure by replacing arbitrary in-person refresher courses with precision micro-learning.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Governance &amp; Macroeconomic Accuracy: Accelerated upskilling of statistical field enumerators directly translates into higher precision for India's GDP, CPI, IIP, and Periodic Labour Force Surveys (PLFS).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Social &amp; Institutional Equity: Implements an objective, evidence-backed evaluation ledger, eliminating human bias and favoritism in civil service training nominations.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t>- Environmental Sustainability: Fully digitized, paperless assessment and automated certification cycle eliminates tens of thousands of printed evaluation sheets annually.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Team MoSPI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03283" y="1573435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7160" tIns="137160" rIns="137160" bIns="13716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National Policy Frameworks &amp; Official Guidelines: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Mission </a:t>
            </a:r>
            <a:r>
              <a:rPr dirty="0" err="1"/>
              <a:t>Karmayogi</a:t>
            </a:r>
            <a:r>
              <a:rPr dirty="0"/>
              <a:t> -- National </a:t>
            </a:r>
            <a:r>
              <a:rPr dirty="0" err="1"/>
              <a:t>Programme</a:t>
            </a:r>
            <a:r>
              <a:rPr dirty="0"/>
              <a:t> for Civil Services Capacity Building (NPCSCB), </a:t>
            </a:r>
            <a:r>
              <a:rPr dirty="0" err="1"/>
              <a:t>DoPT</a:t>
            </a:r>
            <a:r>
              <a:rPr dirty="0"/>
              <a:t>, Government of India (Competency-Driven Governance Framework).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MoSPI</a:t>
            </a:r>
            <a:r>
              <a:rPr dirty="0"/>
              <a:t> Vision 2024-2029 -- Modernization of Indian Official Statistical System, National Statistical Commission (NSC) Recommendations.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United Nations Statistics Division (UNSD) -- Fundamental Principles of Official Statistics &amp; System of National Accounts (SNA 2008).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NSSTA Training Manuals &amp; Syllabi -- Core Training Modules on Sample Surveys, National Accounts, Index Numbers, and Official Data Dissemination.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Academic Literature &amp; Algorithmic Foundations: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Bloom, B. S. (1956). 'Taxonomy of Educational Objectives: The Classification of Educational Goals' (Cognitive hierarchy implemented in RAG exam generation).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Lewis, P., et al. (2020). 'Retrieval-Augmented Generation for Knowledge-Intensive NLP Tasks', Advances in Neural Information Processing Systems (</a:t>
            </a:r>
            <a:r>
              <a:rPr dirty="0" err="1"/>
              <a:t>NeurIPS</a:t>
            </a:r>
            <a:r>
              <a:rPr dirty="0"/>
              <a:t>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Hansen, M. H., &amp; Hurwitz, W. N. (1943). 'On the Theory of Sampling from Finite Populations', Annals of Mathematical Statistics (Domain statistical foundations).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rPr dirty="0"/>
              <a:t>Project Repository &amp; Live Deployment Links: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GitHub Open-Source Repository: https://github.com/aswinbalaji780-afk/SIH_PRO.git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Live Prototype &amp; Interactive API Docs: http://127.0.0.1:8000/docs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sz="1150" b="0">
                <a:solidFill>
                  <a:srgbClr val="334155"/>
                </a:solidFill>
                <a:latin typeface="Arial"/>
              </a:defRPr>
            </a:pPr>
            <a:r>
              <a:rPr dirty="0"/>
              <a:t>- Video Demo &amp; Architecture Walkthrough: Included in SIH final presentation submission package.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Team MoSPI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1481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TradeGothic</vt:lpstr>
      <vt:lpstr>Wingdings</vt:lpstr>
      <vt:lpstr>Office Theme</vt:lpstr>
      <vt:lpstr>SMART INDIA HACKATHON 2026</vt:lpstr>
      <vt:lpstr>IDEA TITLE: NATIONAL SKILL INTELLIGENCE &amp; LEARNING PLATFORM</vt:lpstr>
      <vt:lpstr>TECHNICAL APPROACH &amp; ARCHITECTURE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aswinbalaji K C</cp:lastModifiedBy>
  <cp:revision>151</cp:revision>
  <dcterms:created xsi:type="dcterms:W3CDTF">2013-12-12T18:46:50Z</dcterms:created>
  <dcterms:modified xsi:type="dcterms:W3CDTF">2026-09-06T08:34:00Z</dcterms:modified>
  <cp:category/>
</cp:coreProperties>
</file>